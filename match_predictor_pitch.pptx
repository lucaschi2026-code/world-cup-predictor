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468880"/>
            <a:ext cx="5486400" cy="5486400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640080"/>
            <a:ext cx="1828800" cy="1828800"/>
          </a:xfrm>
          <a:prstGeom prst="ellipse">
            <a:avLst/>
          </a:prstGeom>
          <a:solidFill>
            <a:srgbClr val="C889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Predictor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football-prediction engine —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Sunday’s World Cup final.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4892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C88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CUP  ·  CHALLENGE 1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— in 90 minutes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match-prediction engine. </a:t>
            </a:r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World-Cup-specific — we pointed it at the final because it’s live and the most memorable thing to show today.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706624" cy="3154680"/>
          </a:xfrm>
          <a:prstGeom prst="roundRect">
            <a:avLst>
              <a:gd name="adj" fmla="val 3716"/>
            </a:avLst>
          </a:prstGeom>
          <a:solidFill>
            <a:srgbClr val="EAF3EE"/>
          </a:solidFill>
          <a:ln/>
        </p:spPr>
      </p:sp>
      <p:sp>
        <p:nvSpPr>
          <p:cNvPr id="5" name="Shape 3"/>
          <p:cNvSpPr/>
          <p:nvPr/>
        </p:nvSpPr>
        <p:spPr>
          <a:xfrm>
            <a:off x="1399032" y="3383280"/>
            <a:ext cx="1005840" cy="1005840"/>
          </a:xfrm>
          <a:prstGeom prst="ellipse">
            <a:avLst/>
          </a:prstGeom>
          <a:solidFill>
            <a:srgbClr val="C8890B"/>
          </a:solidFill>
          <a:ln/>
        </p:spPr>
      </p:sp>
      <p:sp>
        <p:nvSpPr>
          <p:cNvPr id="6" name="Text 4"/>
          <p:cNvSpPr/>
          <p:nvPr/>
        </p:nvSpPr>
        <p:spPr>
          <a:xfrm>
            <a:off x="1399032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49,518 internationals,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1872–2026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18688" y="416052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92424" y="3063240"/>
            <a:ext cx="2706624" cy="3154680"/>
          </a:xfrm>
          <a:prstGeom prst="roundRect">
            <a:avLst>
              <a:gd name="adj" fmla="val 3716"/>
            </a:avLst>
          </a:prstGeom>
          <a:solidFill>
            <a:srgbClr val="EAF3EE"/>
          </a:solidFill>
          <a:ln/>
        </p:spPr>
      </p:sp>
      <p:sp>
        <p:nvSpPr>
          <p:cNvPr id="11" name="Shape 9"/>
          <p:cNvSpPr/>
          <p:nvPr/>
        </p:nvSpPr>
        <p:spPr>
          <a:xfrm>
            <a:off x="4242816" y="3383280"/>
            <a:ext cx="1005840" cy="1005840"/>
          </a:xfrm>
          <a:prstGeom prst="ellipse">
            <a:avLst/>
          </a:prstGeom>
          <a:solidFill>
            <a:srgbClr val="C8890B"/>
          </a:solidFill>
          <a:ln/>
        </p:spPr>
      </p:sp>
      <p:sp>
        <p:nvSpPr>
          <p:cNvPr id="12" name="Text 10"/>
          <p:cNvSpPr/>
          <p:nvPr/>
        </p:nvSpPr>
        <p:spPr>
          <a:xfrm>
            <a:off x="4242816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75304" y="46177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 + form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575304" y="521208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team-strength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62472" y="416052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236208" y="3063240"/>
            <a:ext cx="2706624" cy="3154680"/>
          </a:xfrm>
          <a:prstGeom prst="roundRect">
            <a:avLst>
              <a:gd name="adj" fmla="val 3716"/>
            </a:avLst>
          </a:prstGeom>
          <a:solidFill>
            <a:srgbClr val="EA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3383280"/>
            <a:ext cx="1005840" cy="1005840"/>
          </a:xfrm>
          <a:prstGeom prst="ellipse">
            <a:avLst/>
          </a:prstGeom>
          <a:solidFill>
            <a:srgbClr val="C8890B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19088" y="46177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419088" y="521208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06256" y="416052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79992" y="3063240"/>
            <a:ext cx="2706624" cy="3154680"/>
          </a:xfrm>
          <a:prstGeom prst="roundRect">
            <a:avLst>
              <a:gd name="adj" fmla="val 3716"/>
            </a:avLst>
          </a:prstGeom>
          <a:solidFill>
            <a:srgbClr val="EAF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9930384" y="3383280"/>
            <a:ext cx="1005840" cy="1005840"/>
          </a:xfrm>
          <a:prstGeom prst="ellipse">
            <a:avLst/>
          </a:prstGeom>
          <a:solidFill>
            <a:srgbClr val="C8890B"/>
          </a:solidFill>
          <a:ln/>
        </p:spPr>
      </p:sp>
      <p:sp>
        <p:nvSpPr>
          <p:cNvPr id="24" name="Text 22"/>
          <p:cNvSpPr/>
          <p:nvPr/>
        </p:nvSpPr>
        <p:spPr>
          <a:xfrm>
            <a:off x="9930384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262872" y="46177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9262872" y="521208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+ a plain-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“why”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— and it’s honest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60.5%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76072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recent matches   (baseline 47.9%)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76072" y="4754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— probabilities you can trust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486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did no better — so we kept the model that explains itself.</a:t>
            </a:r>
            <a:endParaRPr lang="en-US" sz="1800" dirty="0"/>
          </a:p>
        </p:txBody>
      </p:sp>
      <p:pic>
        <p:nvPicPr>
          <p:cNvPr id="8" name="Image 0" descr="c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54480"/>
            <a:ext cx="557784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Sunday’s final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 vs  Argentina   ·   MetLife Stadium   ·   July 19</a:t>
            </a:r>
            <a:endParaRPr lang="en-US" sz="1900" dirty="0"/>
          </a:p>
        </p:txBody>
      </p:sp>
      <p:pic>
        <p:nvPicPr>
          <p:cNvPr id="4" name="Image 0" descr="c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94944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205740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14532D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2377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Spain 57%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26680" y="3337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lift the trophy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2668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Argentina 43%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algn="l" indent="0" marL="0">
              <a:buNone/>
            </a:pPr>
            <a:r>
              <a:rPr lang="en-US" sz="17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Spain’s goal difference, Elo strength and form — the neutral venue keeps Argentina close.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by choice — built to extend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rgbClr val="E9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leagues — swap the dataset (seasons kicking off now)</a:t>
            </a:r>
            <a:endParaRPr lang="en-US" sz="26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rgbClr val="E9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World Cups — the same engine plugs straight in</a:t>
            </a:r>
            <a:endParaRPr lang="en-US" sz="2600" dirty="0"/>
          </a:p>
          <a:p>
            <a:pPr algn="l" marL="342900" indent="-342900">
              <a:buSzPct val="100000"/>
              <a:buChar char="•"/>
            </a:pPr>
            <a:r>
              <a:rPr lang="en-US" sz="2600" dirty="0">
                <a:solidFill>
                  <a:srgbClr val="E9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sentiment — the brief’s third signal, next to add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8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the Cup  ·  Match Predictor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2026-07-16T22:17:36Z</dcterms:created>
  <dcterms:modified xsi:type="dcterms:W3CDTF">2026-07-16T22:17:36Z</dcterms:modified>
</cp:coreProperties>
</file>