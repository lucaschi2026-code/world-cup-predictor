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hDWi7GYK0/fCpcESWNpJEib8d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470b3f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470b3f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5470b3f5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3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412480" y="2468880"/>
            <a:ext cx="5486400" cy="5486400"/>
          </a:xfrm>
          <a:prstGeom prst="ellipse">
            <a:avLst/>
          </a:prstGeom>
          <a:solidFill>
            <a:srgbClr val="1B7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640080"/>
            <a:ext cx="1828800" cy="1828800"/>
          </a:xfrm>
          <a:prstGeom prst="ellipse">
            <a:avLst/>
          </a:prstGeom>
          <a:solidFill>
            <a:srgbClr val="C889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173736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Cambria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Match Predictor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324612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9E7DF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D9E7DF"/>
                </a:solidFill>
                <a:latin typeface="Calibri"/>
                <a:ea typeface="Calibri"/>
                <a:cs typeface="Calibri"/>
                <a:sym typeface="Calibri"/>
              </a:rPr>
              <a:t>A general football-prediction engine 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9E7DF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D9E7DF"/>
                </a:solidFill>
                <a:latin typeface="Calibri"/>
                <a:ea typeface="Calibri"/>
                <a:cs typeface="Calibri"/>
                <a:sym typeface="Calibri"/>
              </a:rPr>
              <a:t>aimed at Sunday’s World Cup final.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4892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C8890B"/>
                </a:solidFill>
                <a:latin typeface="Calibri"/>
                <a:ea typeface="Calibri"/>
                <a:cs typeface="Calibri"/>
                <a:sym typeface="Calibri"/>
              </a:rPr>
              <a:t>CODE THE CUP  ·  CHALLENGE 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What we built — in 90 minutes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 general match-prediction engine. </a:t>
            </a:r>
            <a:r>
              <a:rPr b="0" i="0" lang="en-US" sz="2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Not World-Cup-specific — we pointed it at the final because it’s live and the most memorable thing to show today.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3063240"/>
            <a:ext cx="2706624" cy="3154680"/>
          </a:xfrm>
          <a:prstGeom prst="roundRect">
            <a:avLst>
              <a:gd fmla="val 371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399032" y="3383280"/>
            <a:ext cx="1005840" cy="1005840"/>
          </a:xfrm>
          <a:prstGeom prst="ellipse">
            <a:avLst/>
          </a:prstGeom>
          <a:solidFill>
            <a:srgbClr val="C889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399032" y="33832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4617720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Data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5212080"/>
            <a:ext cx="23408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49,518 internationals,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1872–2026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18688" y="416052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889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392424" y="3063240"/>
            <a:ext cx="2706624" cy="3154680"/>
          </a:xfrm>
          <a:prstGeom prst="roundRect">
            <a:avLst>
              <a:gd fmla="val 371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242816" y="3383280"/>
            <a:ext cx="1005840" cy="1005840"/>
          </a:xfrm>
          <a:prstGeom prst="ellipse">
            <a:avLst/>
          </a:prstGeom>
          <a:solidFill>
            <a:srgbClr val="C889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242816" y="33832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575304" y="4617720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Elo + form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75304" y="5212080"/>
            <a:ext cx="23408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team-strength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62472" y="416052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889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236208" y="3063240"/>
            <a:ext cx="2706624" cy="3154680"/>
          </a:xfrm>
          <a:prstGeom prst="roundRect">
            <a:avLst>
              <a:gd fmla="val 371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086600" y="3383280"/>
            <a:ext cx="1005840" cy="1005840"/>
          </a:xfrm>
          <a:prstGeom prst="ellipse">
            <a:avLst/>
          </a:prstGeom>
          <a:solidFill>
            <a:srgbClr val="C889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86600" y="33832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19088" y="4617720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Model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19088" y="5212080"/>
            <a:ext cx="23408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transparent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906256" y="416052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889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079992" y="3063240"/>
            <a:ext cx="2706624" cy="3154680"/>
          </a:xfrm>
          <a:prstGeom prst="roundRect">
            <a:avLst>
              <a:gd fmla="val 371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930384" y="3383280"/>
            <a:ext cx="1005840" cy="1005840"/>
          </a:xfrm>
          <a:prstGeom prst="ellipse">
            <a:avLst/>
          </a:prstGeom>
          <a:solidFill>
            <a:srgbClr val="C889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930384" y="33832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262872" y="4617720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262872" y="5212080"/>
            <a:ext cx="23408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odds + a plain-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English “why”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It works — and it’s honest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16002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7600"/>
              <a:buFont typeface="Cambria"/>
              <a:buNone/>
            </a:pPr>
            <a:r>
              <a:rPr b="1" i="0" lang="en-US" sz="76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60.5%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76072" y="2743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accuracy on recent matches   (baseline 47.9%)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36118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7600"/>
              <a:buFont typeface="Cambria"/>
              <a:buNone/>
            </a:pPr>
            <a:r>
              <a:rPr b="1" i="0" lang="en-US" sz="76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0.020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76072" y="4754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calibration error — probabilities you can trust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54864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7A43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B7A43"/>
                </a:solidFill>
                <a:latin typeface="Calibri"/>
                <a:ea typeface="Calibri"/>
                <a:cs typeface="Calibri"/>
                <a:sym typeface="Calibri"/>
              </a:rPr>
              <a:t>Gradient boosting did no better — so we kept the model that explains itself.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_compare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554480"/>
            <a:ext cx="5577840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ambria"/>
                <a:ea typeface="Cambria"/>
                <a:cs typeface="Cambria"/>
                <a:sym typeface="Cambria"/>
              </a:rPr>
              <a:t>Sunday’s final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Spain  vs  Argentina   ·   MetLife Stadium   ·   July 19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_final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694944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7589520" y="2057400"/>
            <a:ext cx="4114800" cy="3246120"/>
          </a:xfrm>
          <a:prstGeom prst="roundRect">
            <a:avLst>
              <a:gd fmla="val 3380" name="adj"/>
            </a:avLst>
          </a:prstGeom>
          <a:solidFill>
            <a:srgbClr val="1453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726680" y="23774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Spain 57%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726680" y="3337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7D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9E7DF"/>
                </a:solidFill>
                <a:latin typeface="Calibri"/>
                <a:ea typeface="Calibri"/>
                <a:cs typeface="Calibri"/>
                <a:sym typeface="Calibri"/>
              </a:rPr>
              <a:t>to lift the trophy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726680" y="40690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C8890B"/>
                </a:solidFill>
                <a:latin typeface="Cambria"/>
                <a:ea typeface="Cambria"/>
                <a:cs typeface="Cambria"/>
                <a:sym typeface="Cambria"/>
              </a:rPr>
              <a:t>Argentina 43%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Why: </a:t>
            </a:r>
            <a:r>
              <a:rPr b="0" i="1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Spain’s goal difference, Elo strength and form — the neutral venue keeps Argentina close.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32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1B7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Scoped by choice — built to extend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77240" y="1920240"/>
            <a:ext cx="10424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9F2ED"/>
              </a:buClr>
              <a:buSzPts val="2600"/>
              <a:buFont typeface="Calibri"/>
              <a:buChar char="•"/>
            </a:pPr>
            <a:r>
              <a:rPr b="0" i="0" lang="en-US" sz="2600" u="none" cap="none" strike="noStrike">
                <a:solidFill>
                  <a:srgbClr val="E9F2ED"/>
                </a:solidFill>
                <a:latin typeface="Calibri"/>
                <a:ea typeface="Calibri"/>
                <a:cs typeface="Calibri"/>
                <a:sym typeface="Calibri"/>
              </a:rPr>
              <a:t>Club leagues — swap the dataset (seasons kicking off now)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E9F2ED"/>
              </a:buClr>
              <a:buSzPts val="2600"/>
              <a:buFont typeface="Calibri"/>
              <a:buChar char="•"/>
            </a:pPr>
            <a:r>
              <a:rPr b="0" i="0" lang="en-US" sz="2600" u="none" cap="none" strike="noStrike">
                <a:solidFill>
                  <a:srgbClr val="E9F2ED"/>
                </a:solidFill>
                <a:latin typeface="Calibri"/>
                <a:ea typeface="Calibri"/>
                <a:cs typeface="Calibri"/>
                <a:sym typeface="Calibri"/>
              </a:rPr>
              <a:t>Future World Cups — the same engine plugs straight 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E9F2ED"/>
              </a:buClr>
              <a:buSzPts val="2600"/>
              <a:buFont typeface="Calibri"/>
              <a:buChar char="•"/>
            </a:pPr>
            <a:r>
              <a:rPr b="0" i="0" lang="en-US" sz="2600" u="none" cap="none" strike="noStrike">
                <a:solidFill>
                  <a:srgbClr val="E9F2ED"/>
                </a:solidFill>
                <a:latin typeface="Calibri"/>
                <a:ea typeface="Calibri"/>
                <a:cs typeface="Calibri"/>
                <a:sym typeface="Calibri"/>
              </a:rPr>
              <a:t>Fan sentiment — the brief’s third signal, next to add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77240" y="48920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890B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8890B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7D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9E7DF"/>
                </a:solidFill>
                <a:latin typeface="Calibri"/>
                <a:ea typeface="Calibri"/>
                <a:cs typeface="Calibri"/>
                <a:sym typeface="Calibri"/>
              </a:rPr>
              <a:t>Code the Cup  ·  Match Predictor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5470b3f5c_0_0" title="Screenshot 2026-07-16 at 18.48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8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2026-07-16T22:17:36Z</dcterms:created>
  <dc:creator>PptxGenJS</dc:creator>
</cp:coreProperties>
</file>